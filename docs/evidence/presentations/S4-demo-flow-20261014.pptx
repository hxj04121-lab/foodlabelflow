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e7ecfb4d824294" /><Relationship Type="http://schemas.openxmlformats.org/officeDocument/2006/relationships/extended-properties" Target="/docProps/app.xml" Id="Rb108659353404de1" /><Relationship Type="http://schemas.openxmlformats.org/officeDocument/2006/relationships/officeDocument" Target="/ppt/presentation.xml" Id="R5098d1635a324e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64adfa287844ff"/>
  </p:sldMasterIdLst>
  <p:notesMasterIdLst>
    <p:notesMasterId xmlns:r="http://schemas.openxmlformats.org/officeDocument/2006/relationships" r:id="R242638e0a5b64cbf"/>
  </p:notesMasterIdLst>
  <p:sldIdLst>
    <p:sldId xmlns:r="http://schemas.openxmlformats.org/officeDocument/2006/relationships" id="256" r:id="Rf2c63373dc214230"/>
    <p:sldId xmlns:r="http://schemas.openxmlformats.org/officeDocument/2006/relationships" id="257" r:id="Ra7c6c88b0780480e"/>
    <p:sldId xmlns:r="http://schemas.openxmlformats.org/officeDocument/2006/relationships" id="258" r:id="R3bace35e72d84c6c"/>
    <p:sldId xmlns:r="http://schemas.openxmlformats.org/officeDocument/2006/relationships" id="259" r:id="R11cd7004a7994384"/>
    <p:sldId xmlns:r="http://schemas.openxmlformats.org/officeDocument/2006/relationships" id="260" r:id="R9b407b844d664a64"/>
    <p:sldId xmlns:r="http://schemas.openxmlformats.org/officeDocument/2006/relationships" id="261" r:id="R047552efee674e55"/>
    <p:sldId xmlns:r="http://schemas.openxmlformats.org/officeDocument/2006/relationships" id="262" r:id="R7df63c0ed7cd4d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4b884018cf4906" /><Relationship Type="http://schemas.openxmlformats.org/officeDocument/2006/relationships/slideMaster" Target="/ppt/slideMasters/slideMaster1.xml" Id="Rb964adfa287844ff" /><Relationship Type="http://schemas.openxmlformats.org/officeDocument/2006/relationships/notesMaster" Target="/ppt/notesMasters/notesMaster1.xml" Id="R242638e0a5b64cbf" /><Relationship Type="http://schemas.openxmlformats.org/officeDocument/2006/relationships/presProps" Target="/ppt/presProps.xml" Id="R05b5434893c84669" /><Relationship Type="http://schemas.openxmlformats.org/officeDocument/2006/relationships/tableStyles" Target="/ppt/tableStyles.xml" Id="R2176ee5102414ccb" /><Relationship Type="http://schemas.openxmlformats.org/officeDocument/2006/relationships/slide" Target="/ppt/slides/slide1.xml" Id="Rf2c63373dc214230" /><Relationship Type="http://schemas.openxmlformats.org/officeDocument/2006/relationships/slide" Target="/ppt/slides/slide2.xml" Id="Ra7c6c88b0780480e" /><Relationship Type="http://schemas.openxmlformats.org/officeDocument/2006/relationships/slide" Target="/ppt/slides/slide3.xml" Id="R3bace35e72d84c6c" /><Relationship Type="http://schemas.openxmlformats.org/officeDocument/2006/relationships/slide" Target="/ppt/slides/slide4.xml" Id="R11cd7004a7994384" /><Relationship Type="http://schemas.openxmlformats.org/officeDocument/2006/relationships/slide" Target="/ppt/slides/slide5.xml" Id="R9b407b844d664a64" /><Relationship Type="http://schemas.openxmlformats.org/officeDocument/2006/relationships/slide" Target="/ppt/slides/slide6.xml" Id="R047552efee674e55" /><Relationship Type="http://schemas.openxmlformats.org/officeDocument/2006/relationships/slide" Target="/ppt/slides/slide7.xml" Id="R7df63c0ed7cd4d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211d7ef0be47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dc045d4a7c44f9" /><Relationship Type="http://schemas.openxmlformats.org/officeDocument/2006/relationships/notesMaster" Target="/ppt/notesMasters/notesMaster1.xml" Id="R72273eb8002440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140efd08a74a4f" /><Relationship Type="http://schemas.openxmlformats.org/officeDocument/2006/relationships/notesMaster" Target="/ppt/notesMasters/notesMaster1.xml" Id="R36fc6f17e38d4f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35333dc3794c41" /><Relationship Type="http://schemas.openxmlformats.org/officeDocument/2006/relationships/notesMaster" Target="/ppt/notesMasters/notesMaster1.xml" Id="Re5c97fb5cff540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2746f155254c9b" /><Relationship Type="http://schemas.openxmlformats.org/officeDocument/2006/relationships/notesMaster" Target="/ppt/notesMasters/notesMaster1.xml" Id="R32a18d28294c40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2cd150e10f47d9" /><Relationship Type="http://schemas.openxmlformats.org/officeDocument/2006/relationships/notesMaster" Target="/ppt/notesMasters/notesMaster1.xml" Id="R22509be1119a49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952d48824d4f75" /><Relationship Type="http://schemas.openxmlformats.org/officeDocument/2006/relationships/notesMaster" Target="/ppt/notesMasters/notesMaster1.xml" Id="R0286a09e258f49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972038399b4982" /><Relationship Type="http://schemas.openxmlformats.org/officeDocument/2006/relationships/notesMaster" Target="/ppt/notesMasters/notesMaster1.xml" Id="Ra6a5fa6954614a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docs/evidence/S4-demo-runbook-20261014.md; docs/evidence/S4-final-report-index-20261010.md. This deck guides the browser scenario. It does not claim an independent teammate rehearsal.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scripts/s4-demo-reset.ps1; docs/evidence/S4-demo-runbook-20261014.md; docs/contracts/s3-label-product-flow-api-v1.yaml.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backend/src/main/java/com/spectrace/catalog/application/BatchSpecificationAdoptionService.java; docs/contracts/s4-catalog-batch-adoption-api-v1.yaml; docs/contracts/specification-adoption-api-v1.md.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docs/contracts/s4-catalog-batch-adoption-api-v1.yaml; docs/contracts/s3-impact-review-publication-api-v1.yaml; docs/contracts/s3-label-product-flow-api-v1.yaml; frontend/src/pages/Impact.tsx.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frontend/src/pages/Labels.tsx; docs/contracts/s3-label-product-flow-api-v1.yaml; backend/src/main/java/com/spectrace/workflow/application/LabelReviewService.java.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backend/src/main/java/com/spectrace/audit/application/ProductLabelHistoryService.java; docs/contracts/s3-label-product-flow-api-v1.yaml; docs/contracts/s3-label-product-flow-error-matrix-v1.md.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docs/evidence/S4-demo-runbook-20261014.md; docs/evidence/S4-final-report-index-20261010.md. Independent acceptance and Docker-backed evidence require a real run; this deck records no such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df771c7c374c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4367a55a8843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dd1a20215f4d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080fae5fc4fd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edd559739743f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310c2593b54c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CB929A-723B-4D09-8DC6-2B2E1699FD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A05AECB-09A6-4DEC-9AAB-17B56A8079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6BCB905-ECD5-4A7F-8BDC-83447D8549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11432E-4D59-4982-B3AB-AABF6EF88A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5F3F3E7-401E-4813-B2F7-42F66676A2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C0ED7D8-C93B-4549-9C36-BFC696EC58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6001C71-282E-4B58-BDCE-B1F2AD0758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D933BB1-8196-4091-887B-B331CE9DE8E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371129-BC73-4CB1-9D1F-58F9E49D13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0709ED-6D69-42EE-B655-8A9CDC42A4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36b1af7671452b" /><Relationship Type="http://schemas.openxmlformats.org/officeDocument/2006/relationships/slideLayout" Target="/ppt/slideLayouts/slideLayout1.xml" Id="Rc091e69341cc41b1" /><Relationship Type="http://schemas.openxmlformats.org/officeDocument/2006/relationships/slideLayout" Target="/ppt/slideLayouts/slideLayout2.xml" Id="Rdbab7405ba75415f" /><Relationship Type="http://schemas.openxmlformats.org/officeDocument/2006/relationships/slideLayout" Target="/ppt/slideLayouts/slideLayout3.xml" Id="R3833684bc1c94330" /><Relationship Type="http://schemas.openxmlformats.org/officeDocument/2006/relationships/slideLayout" Target="/ppt/slideLayouts/slideLayout4.xml" Id="R6e26e76030964c29" /><Relationship Type="http://schemas.openxmlformats.org/officeDocument/2006/relationships/slideLayout" Target="/ppt/slideLayouts/slideLayout5.xml" Id="Rdf41aa4f532f4e40" /><Relationship Type="http://schemas.openxmlformats.org/officeDocument/2006/relationships/slideLayout" Target="/ppt/slideLayouts/slideLayout6.xml" Id="R7f78a78e6ffa40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91e69341cc41b1"/>
    <p:sldLayoutId xmlns:r="http://schemas.openxmlformats.org/officeDocument/2006/relationships" id="2147483650" r:id="Rdbab7405ba75415f"/>
    <p:sldLayoutId xmlns:r="http://schemas.openxmlformats.org/officeDocument/2006/relationships" id="2147483651" r:id="R3833684bc1c94330"/>
    <p:sldLayoutId xmlns:r="http://schemas.openxmlformats.org/officeDocument/2006/relationships" id="2147483652" r:id="R6e26e76030964c29"/>
    <p:sldLayoutId xmlns:r="http://schemas.openxmlformats.org/officeDocument/2006/relationships" id="2147483653" r:id="Rdf41aa4f532f4e40"/>
    <p:sldLayoutId xmlns:r="http://schemas.openxmlformats.org/officeDocument/2006/relationships" id="2147483654" r:id="R7f78a78e6ffa40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c0e996317f4ffc" /><Relationship Type="http://schemas.openxmlformats.org/officeDocument/2006/relationships/notesSlide" Target="/ppt/notesSlides/notesSlide1.xml" Id="R8afe198581bc41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7f26bc39554b24" /><Relationship Type="http://schemas.openxmlformats.org/officeDocument/2006/relationships/notesSlide" Target="/ppt/notesSlides/notesSlide2.xml" Id="R3a807dd5e2364c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c05bc18ba24799" /><Relationship Type="http://schemas.openxmlformats.org/officeDocument/2006/relationships/notesSlide" Target="/ppt/notesSlides/notesSlide3.xml" Id="R4c0c797bb39746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60164d34d8411c" /><Relationship Type="http://schemas.openxmlformats.org/officeDocument/2006/relationships/notesSlide" Target="/ppt/notesSlides/notesSlide4.xml" Id="R0c0bd74fdaea49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bf39c4b8424ced" /><Relationship Type="http://schemas.openxmlformats.org/officeDocument/2006/relationships/notesSlide" Target="/ppt/notesSlides/notesSlide5.xml" Id="Re54a58b58a2941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2ae63f3d754212" /><Relationship Type="http://schemas.openxmlformats.org/officeDocument/2006/relationships/notesSlide" Target="/ppt/notesSlides/notesSlide6.xml" Id="R7caa959ac5654f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5b0f39d26d4cb8" /><Relationship Type="http://schemas.openxmlformats.org/officeDocument/2006/relationships/notesSlide" Target="/ppt/notesSlides/notesSlide7.xml" Id="R2582fb26f27443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C9DFD54-9712-43AB-A6AD-A93EAB17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400" b="1">
                <a:solidFill>
                  <a:srgbClr val="14243A"/>
                </a:solidFill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14243A"/>
                </a:solidFill>
              </a:defRPr>
            </a:pPr>
            <a:r>
              <a:rPr sz="5400" b="1">
                <a:solidFill>
                  <a:srgbClr val="14243A"/>
                </a:solidFill>
              </a:rPr>
              <a:t>FoodLabelFlow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CAFBF37-121F-4DE2-A67C-848CCBE7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860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2250">
                <a:solidFill>
                  <a:srgbClr val="526276"/>
                </a:solidFill>
              </a:defRPr>
            </a:pPr>
            <a:r>
              <a:rPr sz="2250">
                <a:solidFill>
                  <a:srgbClr val="526276"/>
                </a:solidFill>
              </a:rPr>
              <a:t>Sprint 4 product change demo</a:t>
            </a:r>
          </a:p>
          <a:p xmlns:a="http://schemas.openxmlformats.org/drawingml/2006/main">
            <a:pPr>
              <a:defRPr sz="2250">
                <a:solidFill>
                  <a:srgbClr val="526276"/>
                </a:solidFill>
              </a:defRPr>
            </a:pPr>
            <a:r>
              <a:rPr sz="2250">
                <a:solidFill>
                  <a:srgbClr val="526276"/>
                </a:solidFill>
              </a:rPr>
              <a:t>Specification update, impact review and published label history</a:t>
            </a:r>
          </a:p>
        </p:txBody>
      </p:sp>
      <p:sp>
        <p:nvSpPr>
          <p:cNvPr id="3" name="cover-date">
            <a:extLst xmlns:a="http://schemas.openxmlformats.org/drawingml/2006/main">
              <a:ext uri="{FF2B5EF4-FFF2-40B4-BE49-F238E27FC236}">
                <a16:creationId xmlns:a16="http://schemas.microsoft.com/office/drawing/2014/main" id="{CA78B6FF-991B-49B3-AF5C-110A0DE1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76B63"/>
                </a:solidFill>
              </a:defRPr>
            </a:pPr>
            <a:r>
              <a:rPr sz="1425" b="1">
                <a:solidFill>
                  <a:srgbClr val="176B63"/>
                </a:solidFill>
              </a:rPr>
              <a:t>Demo path and operator guide · 14 October 2026</a:t>
            </a:r>
          </a:p>
        </p:txBody>
      </p:sp>
    </p:spTree>
    <p:extLst>
      <p:ext uri="{BB962C8B-B14F-4D97-AF65-F5344CB8AC3E}">
        <p14:creationId xmlns:p14="http://schemas.microsoft.com/office/powerpoint/2010/main" val="6728893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A0FAF7F8-1922-427C-8633-062346E1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6B63"/>
                </a:solidFill>
              </a:defRPr>
            </a:pPr>
            <a:r>
              <a:rPr sz="1125" b="1">
                <a:solidFill>
                  <a:srgbClr val="176B63"/>
                </a:solidFill>
              </a:rPr>
              <a:t>FOODLABELFLOW  /  SPRINT 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5E762A9-D488-460B-AC59-8D2F9B68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90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14243A"/>
                </a:solidFill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4243A"/>
                </a:solidFill>
              </a:defRPr>
            </a:pPr>
            <a:r>
              <a:rPr sz="4200" b="1">
                <a:solidFill>
                  <a:srgbClr val="14243A"/>
                </a:solidFill>
              </a:rPr>
              <a:t>Reset and operator access</a:t>
            </a:r>
          </a:p>
        </p:txBody>
      </p:sp>
      <p:sp>
        <p:nvSpPr>
          <p:cNvPr id="3" name="step-220-heading">
            <a:extLst xmlns:a="http://schemas.openxmlformats.org/drawingml/2006/main">
              <a:ext uri="{FF2B5EF4-FFF2-40B4-BE49-F238E27FC236}">
                <a16:creationId xmlns:a16="http://schemas.microsoft.com/office/drawing/2014/main" id="{57419B88-47A6-4C5A-8EBD-D45347BC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B63"/>
                </a:solidFill>
              </a:defRPr>
            </a:pPr>
            <a:r>
              <a:rPr sz="2175" b="1">
                <a:solidFill>
                  <a:srgbClr val="176B63"/>
                </a:solidFill>
              </a:rPr>
              <a:t>Reset one isolated Compose project</a:t>
            </a:r>
          </a:p>
        </p:txBody>
      </p:sp>
      <p:sp>
        <p:nvSpPr>
          <p:cNvPr id="4" name="step-220-detail">
            <a:extLst xmlns:a="http://schemas.openxmlformats.org/drawingml/2006/main">
              <a:ext uri="{FF2B5EF4-FFF2-40B4-BE49-F238E27FC236}">
                <a16:creationId xmlns:a16="http://schemas.microsoft.com/office/drawing/2014/main" id="{BCF2B360-CE5C-4672-AEE0-1FE6FBA4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1036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725">
                <a:solidFill>
                  <a:srgbClr val="526276"/>
                </a:solidFill>
              </a:defRPr>
            </a:pPr>
            <a:r>
              <a:rPr sz="1725">
                <a:solidFill>
                  <a:srgbClr val="526276"/>
                </a:solidFill>
              </a:rPr>
              <a:t>Run ./scripts/s4-demo-reset.ps1. It rebuilds foodlab-s4-demo with its own volume and host ports.</a:t>
            </a:r>
          </a:p>
        </p:txBody>
      </p:sp>
      <p:sp>
        <p:nvSpPr>
          <p:cNvPr id="5" name="step-332-heading">
            <a:extLst xmlns:a="http://schemas.openxmlformats.org/drawingml/2006/main">
              <a:ext uri="{FF2B5EF4-FFF2-40B4-BE49-F238E27FC236}">
                <a16:creationId xmlns:a16="http://schemas.microsoft.com/office/drawing/2014/main" id="{F6225D19-B511-441B-BF80-5CE21AD5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B63"/>
                </a:solidFill>
              </a:defRPr>
            </a:pPr>
            <a:r>
              <a:rPr sz="2175" b="1">
                <a:solidFill>
                  <a:srgbClr val="176B63"/>
                </a:solidFill>
              </a:rPr>
              <a:t>Confirm service readiness</a:t>
            </a:r>
          </a:p>
        </p:txBody>
      </p:sp>
      <p:sp>
        <p:nvSpPr>
          <p:cNvPr id="6" name="step-332-detail">
            <a:extLst xmlns:a="http://schemas.openxmlformats.org/drawingml/2006/main">
              <a:ext uri="{FF2B5EF4-FFF2-40B4-BE49-F238E27FC236}">
                <a16:creationId xmlns:a16="http://schemas.microsoft.com/office/drawing/2014/main" id="{108C4F81-37ED-4E45-86E1-D3A7B091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33775"/>
            <a:ext cx="1036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725">
                <a:solidFill>
                  <a:srgbClr val="526276"/>
                </a:solidFill>
              </a:defRPr>
            </a:pPr>
            <a:r>
              <a:rPr sz="1725">
                <a:solidFill>
                  <a:srgbClr val="526276"/>
                </a:solidFill>
              </a:rPr>
              <a:t>Open the local web app after the script reports healthy services. The default Compose project stays separate.</a:t>
            </a:r>
          </a:p>
        </p:txBody>
      </p:sp>
      <p:sp>
        <p:nvSpPr>
          <p:cNvPr id="7" name="step-444-heading">
            <a:extLst xmlns:a="http://schemas.openxmlformats.org/drawingml/2006/main">
              <a:ext uri="{FF2B5EF4-FFF2-40B4-BE49-F238E27FC236}">
                <a16:creationId xmlns:a16="http://schemas.microsoft.com/office/drawing/2014/main" id="{EB44F812-8545-47BD-ACCA-D727B38C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B63"/>
                </a:solidFill>
              </a:defRPr>
            </a:pPr>
            <a:r>
              <a:rPr sz="2175" b="1">
                <a:solidFill>
                  <a:srgbClr val="176B63"/>
                </a:solidFill>
              </a:rPr>
              <a:t>Switch only when the step changes</a:t>
            </a:r>
          </a:p>
        </p:txBody>
      </p:sp>
      <p:sp>
        <p:nvSpPr>
          <p:cNvPr id="8" name="step-444-detail">
            <a:extLst xmlns:a="http://schemas.openxmlformats.org/drawingml/2006/main">
              <a:ext uri="{FF2B5EF4-FFF2-40B4-BE49-F238E27FC236}">
                <a16:creationId xmlns:a16="http://schemas.microsoft.com/office/drawing/2014/main" id="{368C84C2-BC11-4270-8BD5-96EA07C3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1036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725">
                <a:solidFill>
                  <a:srgbClr val="526276"/>
                </a:solidFill>
              </a:defRPr>
            </a:pPr>
            <a:r>
              <a:rPr sz="1725">
                <a:solidFill>
                  <a:srgbClr val="526276"/>
                </a:solidFill>
              </a:rPr>
              <a:t>Data Admin adopts formulas. Change Manager starts impact. Maker prepares labels. Checker approves. Publisher releases.</a:t>
            </a:r>
          </a:p>
        </p:txBody>
      </p:sp>
      <p:sp>
        <p:nvSpPr>
          <p:cNvPr id="9" name="step-556-heading">
            <a:extLst xmlns:a="http://schemas.openxmlformats.org/drawingml/2006/main">
              <a:ext uri="{FF2B5EF4-FFF2-40B4-BE49-F238E27FC236}">
                <a16:creationId xmlns:a16="http://schemas.microsoft.com/office/drawing/2014/main" id="{B963ACAD-D821-4612-A712-DFFD711A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B63"/>
                </a:solidFill>
              </a:defRPr>
            </a:pPr>
            <a:r>
              <a:rPr sz="2175" b="1">
                <a:solidFill>
                  <a:srgbClr val="176B63"/>
                </a:solidFill>
              </a:rPr>
              <a:t>Keep the server in control</a:t>
            </a:r>
          </a:p>
        </p:txBody>
      </p:sp>
      <p:sp>
        <p:nvSpPr>
          <p:cNvPr id="10" name="step-556-detail">
            <a:extLst xmlns:a="http://schemas.openxmlformats.org/drawingml/2006/main">
              <a:ext uri="{FF2B5EF4-FFF2-40B4-BE49-F238E27FC236}">
                <a16:creationId xmlns:a16="http://schemas.microsoft.com/office/drawing/2014/main" id="{34C3B1CB-381F-44A0-8B7D-BF1695A9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67375"/>
            <a:ext cx="1036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725">
                <a:solidFill>
                  <a:srgbClr val="526276"/>
                </a:solidFill>
              </a:defRPr>
            </a:pPr>
            <a:r>
              <a:rPr sz="1725">
                <a:solidFill>
                  <a:srgbClr val="526276"/>
                </a:solidFill>
              </a:rPr>
              <a:t>Each command uses the current mapped identity and its real permissions. Maker and Checker remain different users.</a:t>
            </a:r>
          </a:p>
        </p:txBody>
      </p:sp>
    </p:spTree>
    <p:extLst>
      <p:ext uri="{BB962C8B-B14F-4D97-AF65-F5344CB8AC3E}">
        <p14:creationId xmlns:p14="http://schemas.microsoft.com/office/powerpoint/2010/main" val="10717417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9691A816-74E1-432A-9A2E-78DB0361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6B63"/>
                </a:solidFill>
              </a:defRPr>
            </a:pPr>
            <a:r>
              <a:rPr sz="1125" b="1">
                <a:solidFill>
                  <a:srgbClr val="176B63"/>
                </a:solidFill>
              </a:rPr>
              <a:t>FOODLABELFLOW  /  SPRINT 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A8232FD-CD57-4CAE-BB33-7F1A0CD6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90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14243A"/>
                </a:solidFill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4243A"/>
                </a:solidFill>
              </a:defRPr>
            </a:pPr>
            <a:r>
              <a:rPr sz="4200" b="1">
                <a:solidFill>
                  <a:srgbClr val="14243A"/>
                </a:solidFill>
              </a:rPr>
              <a:t>Specification adoption</a:t>
            </a:r>
          </a:p>
        </p:txBody>
      </p:sp>
      <p:sp>
        <p:nvSpPr>
          <p:cNvPr id="3" name="step-220-heading">
            <a:extLst xmlns:a="http://schemas.openxmlformats.org/drawingml/2006/main">
              <a:ext uri="{FF2B5EF4-FFF2-40B4-BE49-F238E27FC236}">
                <a16:creationId xmlns:a16="http://schemas.microsoft.com/office/drawing/2014/main" id="{0FF59BE8-6486-43BA-BC8B-37BC8FF2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B63"/>
                </a:solidFill>
              </a:defRPr>
            </a:pPr>
            <a:r>
              <a:rPr sz="2175" b="1">
                <a:solidFill>
                  <a:srgbClr val="176B63"/>
                </a:solidFill>
              </a:rPr>
              <a:t>Prepare a released target version</a:t>
            </a:r>
          </a:p>
        </p:txBody>
      </p:sp>
      <p:sp>
        <p:nvSpPr>
          <p:cNvPr id="4" name="step-220-detail">
            <a:extLst xmlns:a="http://schemas.openxmlformats.org/drawingml/2006/main">
              <a:ext uri="{FF2B5EF4-FFF2-40B4-BE49-F238E27FC236}">
                <a16:creationId xmlns:a16="http://schemas.microsoft.com/office/drawing/2014/main" id="{E642E363-6B4B-4773-BC79-766C64DC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1036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725">
                <a:solidFill>
                  <a:srgbClr val="526276"/>
                </a:solidFill>
              </a:defRPr>
            </a:pPr>
            <a:r>
              <a:rPr sz="1725">
                <a:solidFill>
                  <a:srgbClr val="526276"/>
                </a:solidFill>
              </a:rPr>
              <a:t>Create a newer specification for mat_chocolate_base and release it before adoption. Keep the prior version for the change request.</a:t>
            </a:r>
          </a:p>
        </p:txBody>
      </p:sp>
      <p:sp>
        <p:nvSpPr>
          <p:cNvPr id="5" name="step-332-heading">
            <a:extLst xmlns:a="http://schemas.openxmlformats.org/drawingml/2006/main">
              <a:ext uri="{FF2B5EF4-FFF2-40B4-BE49-F238E27FC236}">
                <a16:creationId xmlns:a16="http://schemas.microsoft.com/office/drawing/2014/main" id="{5892DFE7-3D5A-49B5-A2CF-D31E849D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B63"/>
                </a:solidFill>
              </a:defRPr>
            </a:pPr>
            <a:r>
              <a:rPr sz="2175" b="1">
                <a:solidFill>
                  <a:srgbClr val="176B63"/>
                </a:solidFill>
              </a:rPr>
              <a:t>Run the current-product batch</a:t>
            </a:r>
          </a:p>
        </p:txBody>
      </p:sp>
      <p:sp>
        <p:nvSpPr>
          <p:cNvPr id="6" name="step-332-detail">
            <a:extLst xmlns:a="http://schemas.openxmlformats.org/drawingml/2006/main">
              <a:ext uri="{FF2B5EF4-FFF2-40B4-BE49-F238E27FC236}">
                <a16:creationId xmlns:a16="http://schemas.microsoft.com/office/drawing/2014/main" id="{C7F135FD-AE5F-440C-B0A3-DECCFAC0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33775"/>
            <a:ext cx="1036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725">
                <a:solidFill>
                  <a:srgbClr val="526276"/>
                </a:solidFill>
              </a:defRPr>
            </a:pPr>
            <a:r>
              <a:rPr sz="1725">
                <a:solidFill>
                  <a:srgbClr val="526276"/>
                </a:solidFill>
              </a:rPr>
              <a:t>Select the target in Change impact and choose Adopt for current products. Only current released formulas using that material qualify.</a:t>
            </a:r>
          </a:p>
        </p:txBody>
      </p:sp>
      <p:sp>
        <p:nvSpPr>
          <p:cNvPr id="7" name="step-444-heading">
            <a:extLst xmlns:a="http://schemas.openxmlformats.org/drawingml/2006/main">
              <a:ext uri="{FF2B5EF4-FFF2-40B4-BE49-F238E27FC236}">
                <a16:creationId xmlns:a16="http://schemas.microsoft.com/office/drawing/2014/main" id="{F40692E8-E2C3-469D-8781-7A79583A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B63"/>
                </a:solidFill>
              </a:defRPr>
            </a:pPr>
            <a:r>
              <a:rPr sz="2175" b="1">
                <a:solidFill>
                  <a:srgbClr val="176B63"/>
                </a:solidFill>
              </a:rPr>
              <a:t>Read the per-product outcome</a:t>
            </a:r>
          </a:p>
        </p:txBody>
      </p:sp>
      <p:sp>
        <p:nvSpPr>
          <p:cNvPr id="8" name="step-444-detail">
            <a:extLst xmlns:a="http://schemas.openxmlformats.org/drawingml/2006/main">
              <a:ext uri="{FF2B5EF4-FFF2-40B4-BE49-F238E27FC236}">
                <a16:creationId xmlns:a16="http://schemas.microsoft.com/office/drawing/2014/main" id="{E5B4AFF8-8C50-4B11-BFD8-DE34BB25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1036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725">
                <a:solidFill>
                  <a:srgbClr val="526276"/>
                </a:solidFill>
              </a:defRPr>
            </a:pPr>
            <a:r>
              <a:rPr sz="1725">
                <a:solidFill>
                  <a:srgbClr val="526276"/>
                </a:solidFill>
              </a:rPr>
              <a:t>The summary lists adopted, skipped and failed products with the resulting FormulaVersion where one committed.</a:t>
            </a:r>
          </a:p>
        </p:txBody>
      </p:sp>
      <p:sp>
        <p:nvSpPr>
          <p:cNvPr id="9" name="step-556-heading">
            <a:extLst xmlns:a="http://schemas.openxmlformats.org/drawingml/2006/main">
              <a:ext uri="{FF2B5EF4-FFF2-40B4-BE49-F238E27FC236}">
                <a16:creationId xmlns:a16="http://schemas.microsoft.com/office/drawing/2014/main" id="{2F09622D-AD3C-4B4D-96D7-408E8682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B63"/>
                </a:solidFill>
              </a:defRPr>
            </a:pPr>
            <a:r>
              <a:rPr sz="2175" b="1">
                <a:solidFill>
                  <a:srgbClr val="176B63"/>
                </a:solidFill>
              </a:rPr>
              <a:t>Repeat safely</a:t>
            </a:r>
          </a:p>
        </p:txBody>
      </p:sp>
      <p:sp>
        <p:nvSpPr>
          <p:cNvPr id="10" name="step-556-detail">
            <a:extLst xmlns:a="http://schemas.openxmlformats.org/drawingml/2006/main">
              <a:ext uri="{FF2B5EF4-FFF2-40B4-BE49-F238E27FC236}">
                <a16:creationId xmlns:a16="http://schemas.microsoft.com/office/drawing/2014/main" id="{B5D6F8B0-7B5B-4845-A0A3-0B70C44B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67375"/>
            <a:ext cx="1036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725">
                <a:solidFill>
                  <a:srgbClr val="526276"/>
                </a:solidFill>
              </a:defRPr>
            </a:pPr>
            <a:r>
              <a:rPr sz="1725">
                <a:solidFill>
                  <a:srgbClr val="526276"/>
                </a:solidFill>
              </a:rPr>
              <a:t>Committed product/target pairs return their recorded formula ID on replay. Every product has its own transaction.</a:t>
            </a:r>
          </a:p>
        </p:txBody>
      </p:sp>
    </p:spTree>
    <p:extLst>
      <p:ext uri="{BB962C8B-B14F-4D97-AF65-F5344CB8AC3E}">
        <p14:creationId xmlns:p14="http://schemas.microsoft.com/office/powerpoint/2010/main" val="8970693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1E5AE5F1-784B-455D-B424-6527E5F2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6B63"/>
                </a:solidFill>
              </a:defRPr>
            </a:pPr>
            <a:r>
              <a:rPr sz="1125" b="1">
                <a:solidFill>
                  <a:srgbClr val="176B63"/>
                </a:solidFill>
              </a:rPr>
              <a:t>FOODLABELFLOW  /  SPRINT 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866FAC5-0A79-4D52-9A5C-75DEFA51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90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14243A"/>
                </a:solidFill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4243A"/>
                </a:solidFill>
              </a:defRPr>
            </a:pPr>
            <a:r>
              <a:rPr sz="4200" b="1">
                <a:solidFill>
                  <a:srgbClr val="14243A"/>
                </a:solidFill>
              </a:rPr>
              <a:t>Contract and result handoff</a:t>
            </a:r>
          </a:p>
        </p:txBody>
      </p:sp>
      <p:sp>
        <p:nvSpPr>
          <p:cNvPr id="3" name="step-220-heading">
            <a:extLst xmlns:a="http://schemas.openxmlformats.org/drawingml/2006/main">
              <a:ext uri="{FF2B5EF4-FFF2-40B4-BE49-F238E27FC236}">
                <a16:creationId xmlns:a16="http://schemas.microsoft.com/office/drawing/2014/main" id="{E1074C88-323F-48F0-A73A-F7276749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B63"/>
                </a:solidFill>
              </a:defRPr>
            </a:pPr>
            <a:r>
              <a:rPr sz="2175" b="1">
                <a:solidFill>
                  <a:srgbClr val="176B63"/>
                </a:solidFill>
              </a:rPr>
              <a:t>Freeze exact request and response shapes</a:t>
            </a:r>
          </a:p>
        </p:txBody>
      </p:sp>
      <p:sp>
        <p:nvSpPr>
          <p:cNvPr id="4" name="step-220-detail">
            <a:extLst xmlns:a="http://schemas.openxmlformats.org/drawingml/2006/main">
              <a:ext uri="{FF2B5EF4-FFF2-40B4-BE49-F238E27FC236}">
                <a16:creationId xmlns:a16="http://schemas.microsoft.com/office/drawing/2014/main" id="{D51EB8E4-7D87-4993-88AF-DF2A1C5F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1036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725">
                <a:solidFill>
                  <a:srgbClr val="526276"/>
                </a:solidFill>
              </a:defRPr>
            </a:pPr>
            <a:r>
              <a:rPr sz="1725">
                <a:solidFill>
                  <a:srgbClr val="526276"/>
                </a:solidFill>
              </a:rPr>
              <a:t>The S4 OpenAPI addendum documents batch adoption. The label contract documents demo identities and history reads.</a:t>
            </a:r>
          </a:p>
        </p:txBody>
      </p:sp>
      <p:sp>
        <p:nvSpPr>
          <p:cNvPr id="5" name="step-332-heading">
            <a:extLst xmlns:a="http://schemas.openxmlformats.org/drawingml/2006/main">
              <a:ext uri="{FF2B5EF4-FFF2-40B4-BE49-F238E27FC236}">
                <a16:creationId xmlns:a16="http://schemas.microsoft.com/office/drawing/2014/main" id="{7D1868C2-DEEC-4954-826A-251D2E94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B63"/>
                </a:solidFill>
              </a:defRPr>
            </a:pPr>
            <a:r>
              <a:rPr sz="2175" b="1">
                <a:solidFill>
                  <a:srgbClr val="176B63"/>
                </a:solidFill>
              </a:rPr>
              <a:t>Use the existing impact contract</a:t>
            </a:r>
          </a:p>
        </p:txBody>
      </p:sp>
      <p:sp>
        <p:nvSpPr>
          <p:cNvPr id="6" name="step-332-detail">
            <a:extLst xmlns:a="http://schemas.openxmlformats.org/drawingml/2006/main">
              <a:ext uri="{FF2B5EF4-FFF2-40B4-BE49-F238E27FC236}">
                <a16:creationId xmlns:a16="http://schemas.microsoft.com/office/drawing/2014/main" id="{D595F448-F359-4686-956A-79AA377F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33775"/>
            <a:ext cx="1036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725">
                <a:solidFill>
                  <a:srgbClr val="526276"/>
                </a:solidFill>
              </a:defRPr>
            </a:pPr>
            <a:r>
              <a:rPr sz="1725">
                <a:solidFill>
                  <a:srgbClr val="526276"/>
                </a:solidFill>
              </a:rPr>
              <a:t>ChangeRequest, ImpactAnalysis and Finding remain the existing versioned API resources. Totals must equal the complete finding list.</a:t>
            </a:r>
          </a:p>
        </p:txBody>
      </p:sp>
      <p:sp>
        <p:nvSpPr>
          <p:cNvPr id="7" name="step-444-heading">
            <a:extLst xmlns:a="http://schemas.openxmlformats.org/drawingml/2006/main">
              <a:ext uri="{FF2B5EF4-FFF2-40B4-BE49-F238E27FC236}">
                <a16:creationId xmlns:a16="http://schemas.microsoft.com/office/drawing/2014/main" id="{175EE8A7-5D50-4BE7-B8C1-8EDAD85A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B63"/>
                </a:solidFill>
              </a:defRPr>
            </a:pPr>
            <a:r>
              <a:rPr sz="2175" b="1">
                <a:solidFill>
                  <a:srgbClr val="176B63"/>
                </a:solidFill>
              </a:rPr>
              <a:t>Show names and classify findings</a:t>
            </a:r>
          </a:p>
        </p:txBody>
      </p:sp>
      <p:sp>
        <p:nvSpPr>
          <p:cNvPr id="8" name="step-444-detail">
            <a:extLst xmlns:a="http://schemas.openxmlformats.org/drawingml/2006/main">
              <a:ext uri="{FF2B5EF4-FFF2-40B4-BE49-F238E27FC236}">
                <a16:creationId xmlns:a16="http://schemas.microsoft.com/office/drawing/2014/main" id="{0B9049F7-70A8-45A0-BC6E-A92FCB18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1036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725">
                <a:solidFill>
                  <a:srgbClr val="526276"/>
                </a:solidFill>
              </a:defRPr>
            </a:pPr>
            <a:r>
              <a:rPr sz="1725">
                <a:solidFill>
                  <a:srgbClr val="526276"/>
                </a:solidFill>
              </a:rPr>
              <a:t>The browser resolves current product descriptions, reports each outcome and filters REVIEW_REQUIRED from NO_ACTION.</a:t>
            </a:r>
          </a:p>
        </p:txBody>
      </p:sp>
      <p:sp>
        <p:nvSpPr>
          <p:cNvPr id="9" name="step-556-heading">
            <a:extLst xmlns:a="http://schemas.openxmlformats.org/drawingml/2006/main">
              <a:ext uri="{FF2B5EF4-FFF2-40B4-BE49-F238E27FC236}">
                <a16:creationId xmlns:a16="http://schemas.microsoft.com/office/drawing/2014/main" id="{3A878D8F-85F2-446B-BFD0-46C4EB0E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B63"/>
                </a:solidFill>
              </a:defRPr>
            </a:pPr>
            <a:r>
              <a:rPr sz="2175" b="1">
                <a:solidFill>
                  <a:srgbClr val="176B63"/>
                </a:solidFill>
              </a:rPr>
              <a:t>Continue from an exact task</a:t>
            </a:r>
          </a:p>
        </p:txBody>
      </p:sp>
      <p:sp>
        <p:nvSpPr>
          <p:cNvPr id="10" name="step-556-detail">
            <a:extLst xmlns:a="http://schemas.openxmlformats.org/drawingml/2006/main">
              <a:ext uri="{FF2B5EF4-FFF2-40B4-BE49-F238E27FC236}">
                <a16:creationId xmlns:a16="http://schemas.microsoft.com/office/drawing/2014/main" id="{ED126EC8-F9EC-44DD-AAA0-1E24C66A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67375"/>
            <a:ext cx="1036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725">
                <a:solidFill>
                  <a:srgbClr val="526276"/>
                </a:solidFill>
              </a:defRPr>
            </a:pPr>
            <a:r>
              <a:rPr sz="1725">
                <a:solidFill>
                  <a:srgbClr val="526276"/>
                </a:solidFill>
              </a:rPr>
              <a:t>Each review-required finding links to its persisted ReviewTask and the exact product and label context.</a:t>
            </a:r>
          </a:p>
        </p:txBody>
      </p:sp>
    </p:spTree>
    <p:extLst>
      <p:ext uri="{BB962C8B-B14F-4D97-AF65-F5344CB8AC3E}">
        <p14:creationId xmlns:p14="http://schemas.microsoft.com/office/powerpoint/2010/main" val="18123486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768BCB13-8909-4BE8-8F58-1213BBB8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6B63"/>
                </a:solidFill>
              </a:defRPr>
            </a:pPr>
            <a:r>
              <a:rPr sz="1125" b="1">
                <a:solidFill>
                  <a:srgbClr val="176B63"/>
                </a:solidFill>
              </a:rPr>
              <a:t>FOODLABELFLOW  /  SPRINT 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F521FA2-BC33-44D4-BD82-F9573F55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90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14243A"/>
                </a:solidFill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4243A"/>
                </a:solidFill>
              </a:defRPr>
            </a:pPr>
            <a:r>
              <a:rPr sz="4200" b="1">
                <a:solidFill>
                  <a:srgbClr val="14243A"/>
                </a:solidFill>
              </a:rPr>
              <a:t>Replacement label workflow</a:t>
            </a:r>
          </a:p>
        </p:txBody>
      </p:sp>
      <p:sp>
        <p:nvSpPr>
          <p:cNvPr id="3" name="step-220-heading">
            <a:extLst xmlns:a="http://schemas.openxmlformats.org/drawingml/2006/main">
              <a:ext uri="{FF2B5EF4-FFF2-40B4-BE49-F238E27FC236}">
                <a16:creationId xmlns:a16="http://schemas.microsoft.com/office/drawing/2014/main" id="{A61F982A-54F8-4F38-8CFD-F23D7000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B63"/>
                </a:solidFill>
              </a:defRPr>
            </a:pPr>
            <a:r>
              <a:rPr sz="2175" b="1">
                <a:solidFill>
                  <a:srgbClr val="176B63"/>
                </a:solidFill>
              </a:rPr>
              <a:t>Open one persisted review task</a:t>
            </a:r>
          </a:p>
        </p:txBody>
      </p:sp>
      <p:sp>
        <p:nvSpPr>
          <p:cNvPr id="4" name="step-220-detail">
            <a:extLst xmlns:a="http://schemas.openxmlformats.org/drawingml/2006/main">
              <a:ext uri="{FF2B5EF4-FFF2-40B4-BE49-F238E27FC236}">
                <a16:creationId xmlns:a16="http://schemas.microsoft.com/office/drawing/2014/main" id="{0F5FF405-DC5E-470D-86DA-E4865B87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1036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725">
                <a:solidFill>
                  <a:srgbClr val="526276"/>
                </a:solidFill>
              </a:defRPr>
            </a:pPr>
            <a:r>
              <a:rPr sz="1725">
                <a:solidFill>
                  <a:srgbClr val="526276"/>
                </a:solidFill>
              </a:rPr>
              <a:t>The task supplies its current published label and its proposed formula. The link never substitutes a different task.</a:t>
            </a:r>
          </a:p>
        </p:txBody>
      </p:sp>
      <p:sp>
        <p:nvSpPr>
          <p:cNvPr id="5" name="step-332-heading">
            <a:extLst xmlns:a="http://schemas.openxmlformats.org/drawingml/2006/main">
              <a:ext uri="{FF2B5EF4-FFF2-40B4-BE49-F238E27FC236}">
                <a16:creationId xmlns:a16="http://schemas.microsoft.com/office/drawing/2014/main" id="{6D13BEF7-962E-4FB2-9DC1-39FC0369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B63"/>
                </a:solidFill>
              </a:defRPr>
            </a:pPr>
            <a:r>
              <a:rPr sz="2175" b="1">
                <a:solidFill>
                  <a:srgbClr val="176B63"/>
                </a:solidFill>
              </a:rPr>
              <a:t>Review copied declarations</a:t>
            </a:r>
          </a:p>
        </p:txBody>
      </p:sp>
      <p:sp>
        <p:nvSpPr>
          <p:cNvPr id="6" name="step-332-detail">
            <a:extLst xmlns:a="http://schemas.openxmlformats.org/drawingml/2006/main">
              <a:ext uri="{FF2B5EF4-FFF2-40B4-BE49-F238E27FC236}">
                <a16:creationId xmlns:a16="http://schemas.microsoft.com/office/drawing/2014/main" id="{72630018-D585-44DF-85CD-568C44B7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33775"/>
            <a:ext cx="1036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725">
                <a:solidFill>
                  <a:srgbClr val="526276"/>
                </a:solidFill>
              </a:defRPr>
            </a:pPr>
            <a:r>
              <a:rPr sz="1725">
                <a:solidFill>
                  <a:srgbClr val="526276"/>
                </a:solidFill>
              </a:rPr>
              <a:t>A first replacement draft preloads the prior published label’s user-entered declarations. The maker can change them before creating the new snapshot.</a:t>
            </a:r>
          </a:p>
        </p:txBody>
      </p:sp>
      <p:sp>
        <p:nvSpPr>
          <p:cNvPr id="7" name="step-444-heading">
            <a:extLst xmlns:a="http://schemas.openxmlformats.org/drawingml/2006/main">
              <a:ext uri="{FF2B5EF4-FFF2-40B4-BE49-F238E27FC236}">
                <a16:creationId xmlns:a16="http://schemas.microsoft.com/office/drawing/2014/main" id="{C69447D9-E8D4-4A7E-9015-793C86C0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B63"/>
                </a:solidFill>
              </a:defRPr>
            </a:pPr>
            <a:r>
              <a:rPr sz="2175" b="1">
                <a:solidFill>
                  <a:srgbClr val="176B63"/>
                </a:solidFill>
              </a:rPr>
              <a:t>Validate and submit the exact version</a:t>
            </a:r>
          </a:p>
        </p:txBody>
      </p:sp>
      <p:sp>
        <p:nvSpPr>
          <p:cNvPr id="8" name="step-444-detail">
            <a:extLst xmlns:a="http://schemas.openxmlformats.org/drawingml/2006/main">
              <a:ext uri="{FF2B5EF4-FFF2-40B4-BE49-F238E27FC236}">
                <a16:creationId xmlns:a16="http://schemas.microsoft.com/office/drawing/2014/main" id="{1A927CA1-011E-4B2D-BE33-699AC6DB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1036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725">
                <a:solidFill>
                  <a:srgbClr val="526276"/>
                </a:solidFill>
              </a:defRPr>
            </a:pPr>
            <a:r>
              <a:rPr sz="1725">
                <a:solidFill>
                  <a:srgbClr val="526276"/>
                </a:solidFill>
              </a:rPr>
              <a:t>Run fresh validation for the replacement label, then submit that exact label for review.</a:t>
            </a:r>
          </a:p>
        </p:txBody>
      </p:sp>
      <p:sp>
        <p:nvSpPr>
          <p:cNvPr id="9" name="step-556-heading">
            <a:extLst xmlns:a="http://schemas.openxmlformats.org/drawingml/2006/main">
              <a:ext uri="{FF2B5EF4-FFF2-40B4-BE49-F238E27FC236}">
                <a16:creationId xmlns:a16="http://schemas.microsoft.com/office/drawing/2014/main" id="{19567FE4-D726-43FC-A58B-5D98C2E6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B63"/>
                </a:solidFill>
              </a:defRPr>
            </a:pPr>
            <a:r>
              <a:rPr sz="2175" b="1">
                <a:solidFill>
                  <a:srgbClr val="176B63"/>
                </a:solidFill>
              </a:rPr>
              <a:t>Approve and publish with separate actors</a:t>
            </a:r>
          </a:p>
        </p:txBody>
      </p:sp>
      <p:sp>
        <p:nvSpPr>
          <p:cNvPr id="10" name="step-556-detail">
            <a:extLst xmlns:a="http://schemas.openxmlformats.org/drawingml/2006/main">
              <a:ext uri="{FF2B5EF4-FFF2-40B4-BE49-F238E27FC236}">
                <a16:creationId xmlns:a16="http://schemas.microsoft.com/office/drawing/2014/main" id="{17033194-C9C4-4BAD-BE10-BB339197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67375"/>
            <a:ext cx="1036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725">
                <a:solidFill>
                  <a:srgbClr val="526276"/>
                </a:solidFill>
              </a:defRPr>
            </a:pPr>
            <a:r>
              <a:rPr sz="1725">
                <a:solidFill>
                  <a:srgbClr val="526276"/>
                </a:solidFill>
              </a:rPr>
              <a:t>Checker records the decision. Publisher releases the approved target. The server enforces maker-checker and lifecycle guards.</a:t>
            </a:r>
          </a:p>
        </p:txBody>
      </p:sp>
    </p:spTree>
    <p:extLst>
      <p:ext uri="{BB962C8B-B14F-4D97-AF65-F5344CB8AC3E}">
        <p14:creationId xmlns:p14="http://schemas.microsoft.com/office/powerpoint/2010/main" val="1602123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2DDC432D-9157-4BA0-9350-58E9878D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6B63"/>
                </a:solidFill>
              </a:defRPr>
            </a:pPr>
            <a:r>
              <a:rPr sz="1125" b="1">
                <a:solidFill>
                  <a:srgbClr val="176B63"/>
                </a:solidFill>
              </a:rPr>
              <a:t>FOODLABELFLOW  /  SPRINT 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AB7C43B-F196-4DBF-95AF-A956D55A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90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14243A"/>
                </a:solidFill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4243A"/>
                </a:solidFill>
              </a:defRPr>
            </a:pPr>
            <a:r>
              <a:rPr sz="4200" b="1">
                <a:solidFill>
                  <a:srgbClr val="14243A"/>
                </a:solidFill>
              </a:rPr>
              <a:t>Label history and audit</a:t>
            </a:r>
          </a:p>
        </p:txBody>
      </p:sp>
      <p:sp>
        <p:nvSpPr>
          <p:cNvPr id="3" name="step-220-heading">
            <a:extLst xmlns:a="http://schemas.openxmlformats.org/drawingml/2006/main">
              <a:ext uri="{FF2B5EF4-FFF2-40B4-BE49-F238E27FC236}">
                <a16:creationId xmlns:a16="http://schemas.microsoft.com/office/drawing/2014/main" id="{73DB208C-7B67-4FB3-B8EB-ACC021B4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B63"/>
                </a:solidFill>
              </a:defRPr>
            </a:pPr>
            <a:r>
              <a:rPr sz="2175" b="1">
                <a:solidFill>
                  <a:srgbClr val="176B63"/>
                </a:solidFill>
              </a:rPr>
              <a:t>Select the same product</a:t>
            </a:r>
          </a:p>
        </p:txBody>
      </p:sp>
      <p:sp>
        <p:nvSpPr>
          <p:cNvPr id="4" name="step-220-detail">
            <a:extLst xmlns:a="http://schemas.openxmlformats.org/drawingml/2006/main">
              <a:ext uri="{FF2B5EF4-FFF2-40B4-BE49-F238E27FC236}">
                <a16:creationId xmlns:a16="http://schemas.microsoft.com/office/drawing/2014/main" id="{389934FF-324E-4522-9F63-5B0D1186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1036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725">
                <a:solidFill>
                  <a:srgbClr val="526276"/>
                </a:solidFill>
              </a:defRPr>
            </a:pPr>
            <a:r>
              <a:rPr sz="1725">
                <a:solidFill>
                  <a:srgbClr val="526276"/>
                </a:solidFill>
              </a:rPr>
              <a:t>The history read uses the actual catalog product description and exact saved label versions.</a:t>
            </a:r>
          </a:p>
        </p:txBody>
      </p:sp>
      <p:sp>
        <p:nvSpPr>
          <p:cNvPr id="5" name="step-332-heading">
            <a:extLst xmlns:a="http://schemas.openxmlformats.org/drawingml/2006/main">
              <a:ext uri="{FF2B5EF4-FFF2-40B4-BE49-F238E27FC236}">
                <a16:creationId xmlns:a16="http://schemas.microsoft.com/office/drawing/2014/main" id="{10364910-1DB8-4147-8CB1-2B6D1DAC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B63"/>
                </a:solidFill>
              </a:defRPr>
            </a:pPr>
            <a:r>
              <a:rPr sz="2175" b="1">
                <a:solidFill>
                  <a:srgbClr val="176B63"/>
                </a:solidFill>
              </a:rPr>
              <a:t>Compare version snapshots</a:t>
            </a:r>
          </a:p>
        </p:txBody>
      </p:sp>
      <p:sp>
        <p:nvSpPr>
          <p:cNvPr id="6" name="step-332-detail">
            <a:extLst xmlns:a="http://schemas.openxmlformats.org/drawingml/2006/main">
              <a:ext uri="{FF2B5EF4-FFF2-40B4-BE49-F238E27FC236}">
                <a16:creationId xmlns:a16="http://schemas.microsoft.com/office/drawing/2014/main" id="{33304B4E-841F-429E-A28A-89EC899D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33775"/>
            <a:ext cx="1036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725">
                <a:solidFill>
                  <a:srgbClr val="526276"/>
                </a:solidFill>
              </a:defRPr>
            </a:pPr>
            <a:r>
              <a:rPr sz="1725">
                <a:solidFill>
                  <a:srgbClr val="526276"/>
                </a:solidFill>
              </a:rPr>
              <a:t>Review lifecycle status, jurisdiction, formula and rule-set bindings, creator and user-entered declarations.</a:t>
            </a:r>
          </a:p>
        </p:txBody>
      </p:sp>
      <p:sp>
        <p:nvSpPr>
          <p:cNvPr id="7" name="step-444-heading">
            <a:extLst xmlns:a="http://schemas.openxmlformats.org/drawingml/2006/main">
              <a:ext uri="{FF2B5EF4-FFF2-40B4-BE49-F238E27FC236}">
                <a16:creationId xmlns:a16="http://schemas.microsoft.com/office/drawing/2014/main" id="{4674EACA-96C1-4E9E-A695-CF058541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B63"/>
                </a:solidFill>
              </a:defRPr>
            </a:pPr>
            <a:r>
              <a:rPr sz="2175" b="1">
                <a:solidFill>
                  <a:srgbClr val="176B63"/>
                </a:solidFill>
              </a:rPr>
              <a:t>Trace decisions and publication</a:t>
            </a:r>
          </a:p>
        </p:txBody>
      </p:sp>
      <p:sp>
        <p:nvSpPr>
          <p:cNvPr id="8" name="step-444-detail">
            <a:extLst xmlns:a="http://schemas.openxmlformats.org/drawingml/2006/main">
              <a:ext uri="{FF2B5EF4-FFF2-40B4-BE49-F238E27FC236}">
                <a16:creationId xmlns:a16="http://schemas.microsoft.com/office/drawing/2014/main" id="{1B389839-D620-489F-AB31-601B3E16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1036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725">
                <a:solidFill>
                  <a:srgbClr val="526276"/>
                </a:solidFill>
              </a:defRPr>
            </a:pPr>
            <a:r>
              <a:rPr sz="1725">
                <a:solidFill>
                  <a:srgbClr val="526276"/>
                </a:solidFill>
              </a:rPr>
              <a:t>Approval records and publication actor, time and channel remain visible beside the version history.</a:t>
            </a:r>
          </a:p>
        </p:txBody>
      </p:sp>
      <p:sp>
        <p:nvSpPr>
          <p:cNvPr id="9" name="step-556-heading">
            <a:extLst xmlns:a="http://schemas.openxmlformats.org/drawingml/2006/main">
              <a:ext uri="{FF2B5EF4-FFF2-40B4-BE49-F238E27FC236}">
                <a16:creationId xmlns:a16="http://schemas.microsoft.com/office/drawing/2014/main" id="{0D0ADE40-A2D9-4251-B935-E9291093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B63"/>
                </a:solidFill>
              </a:defRPr>
            </a:pPr>
            <a:r>
              <a:rPr sz="2175" b="1">
                <a:solidFill>
                  <a:srgbClr val="176B63"/>
                </a:solidFill>
              </a:rPr>
              <a:t>Inspect attributable events</a:t>
            </a:r>
          </a:p>
        </p:txBody>
      </p:sp>
      <p:sp>
        <p:nvSpPr>
          <p:cNvPr id="10" name="step-556-detail">
            <a:extLst xmlns:a="http://schemas.openxmlformats.org/drawingml/2006/main">
              <a:ext uri="{FF2B5EF4-FFF2-40B4-BE49-F238E27FC236}">
                <a16:creationId xmlns:a16="http://schemas.microsoft.com/office/drawing/2014/main" id="{BDEBEA30-2F2A-4438-962B-A6316719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67375"/>
            <a:ext cx="1036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725">
                <a:solidFill>
                  <a:srgbClr val="526276"/>
                </a:solidFill>
              </a:defRPr>
            </a:pPr>
            <a:r>
              <a:rPr sz="1725">
                <a:solidFill>
                  <a:srgbClr val="526276"/>
                </a:solidFill>
              </a:rPr>
              <a:t>The read-only endpoint returns matching label-version and review-task audit events and requires AUDIT.READ.</a:t>
            </a:r>
          </a:p>
        </p:txBody>
      </p:sp>
    </p:spTree>
    <p:extLst>
      <p:ext uri="{BB962C8B-B14F-4D97-AF65-F5344CB8AC3E}">
        <p14:creationId xmlns:p14="http://schemas.microsoft.com/office/powerpoint/2010/main" val="6080922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A95DAA5B-F39F-4829-BF3D-DE6DCCDD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6B63"/>
                </a:solidFill>
              </a:defRPr>
            </a:pPr>
            <a:r>
              <a:rPr sz="1125" b="1">
                <a:solidFill>
                  <a:srgbClr val="176B63"/>
                </a:solidFill>
              </a:rPr>
              <a:t>FOODLABELFLOW  /  SPRINT 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7C1D6E0-FCBE-41B8-9999-2EC572FD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90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14243A"/>
                </a:solidFill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4243A"/>
                </a:solidFill>
              </a:defRPr>
            </a:pPr>
            <a:r>
              <a:rPr sz="4200" b="1">
                <a:solidFill>
                  <a:srgbClr val="14243A"/>
                </a:solidFill>
              </a:rPr>
              <a:t>Release candidate checklist</a:t>
            </a:r>
          </a:p>
        </p:txBody>
      </p:sp>
      <p:sp>
        <p:nvSpPr>
          <p:cNvPr id="3" name="step-220-heading">
            <a:extLst xmlns:a="http://schemas.openxmlformats.org/drawingml/2006/main">
              <a:ext uri="{FF2B5EF4-FFF2-40B4-BE49-F238E27FC236}">
                <a16:creationId xmlns:a16="http://schemas.microsoft.com/office/drawing/2014/main" id="{7465E898-E1AE-4679-9640-1D7287F9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B63"/>
                </a:solidFill>
              </a:defRPr>
            </a:pPr>
            <a:r>
              <a:rPr sz="2175" b="1">
                <a:solidFill>
                  <a:srgbClr val="176B63"/>
                </a:solidFill>
              </a:rPr>
              <a:t>Reset before the final browser pass</a:t>
            </a:r>
          </a:p>
        </p:txBody>
      </p:sp>
      <p:sp>
        <p:nvSpPr>
          <p:cNvPr id="4" name="step-220-detail">
            <a:extLst xmlns:a="http://schemas.openxmlformats.org/drawingml/2006/main">
              <a:ext uri="{FF2B5EF4-FFF2-40B4-BE49-F238E27FC236}">
                <a16:creationId xmlns:a16="http://schemas.microsoft.com/office/drawing/2014/main" id="{37866FBF-DE3D-49CC-A575-6D1A3111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1036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725">
                <a:solidFill>
                  <a:srgbClr val="526276"/>
                </a:solidFill>
              </a:defRPr>
            </a:pPr>
            <a:r>
              <a:rPr sz="1725">
                <a:solidFill>
                  <a:srgbClr val="526276"/>
                </a:solidFill>
              </a:rPr>
              <a:t>Use the isolated Compose project and record the exact commit SHA with every result.</a:t>
            </a:r>
          </a:p>
        </p:txBody>
      </p:sp>
      <p:sp>
        <p:nvSpPr>
          <p:cNvPr id="5" name="step-332-heading">
            <a:extLst xmlns:a="http://schemas.openxmlformats.org/drawingml/2006/main">
              <a:ext uri="{FF2B5EF4-FFF2-40B4-BE49-F238E27FC236}">
                <a16:creationId xmlns:a16="http://schemas.microsoft.com/office/drawing/2014/main" id="{D7E9062E-70A1-43A5-AB39-678E86B1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B63"/>
                </a:solidFill>
              </a:defRPr>
            </a:pPr>
            <a:r>
              <a:rPr sz="2175" b="1">
                <a:solidFill>
                  <a:srgbClr val="176B63"/>
                </a:solidFill>
              </a:rPr>
              <a:t>Run the required evidence set</a:t>
            </a:r>
          </a:p>
        </p:txBody>
      </p:sp>
      <p:sp>
        <p:nvSpPr>
          <p:cNvPr id="6" name="step-332-detail">
            <a:extLst xmlns:a="http://schemas.openxmlformats.org/drawingml/2006/main">
              <a:ext uri="{FF2B5EF4-FFF2-40B4-BE49-F238E27FC236}">
                <a16:creationId xmlns:a16="http://schemas.microsoft.com/office/drawing/2014/main" id="{629F1DB2-E5D7-465F-BD7D-72D3EBFC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33775"/>
            <a:ext cx="1036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725">
                <a:solidFill>
                  <a:srgbClr val="526276"/>
                </a:solidFill>
              </a:defRPr>
            </a:pPr>
            <a:r>
              <a:rPr sz="1725">
                <a:solidFill>
                  <a:srgbClr val="526276"/>
                </a:solidFill>
              </a:rPr>
              <a:t>Backend regression, frontend build, browser path, security checks and static analysis must reference that same SHA.</a:t>
            </a:r>
          </a:p>
        </p:txBody>
      </p:sp>
      <p:sp>
        <p:nvSpPr>
          <p:cNvPr id="7" name="step-444-heading">
            <a:extLst xmlns:a="http://schemas.openxmlformats.org/drawingml/2006/main">
              <a:ext uri="{FF2B5EF4-FFF2-40B4-BE49-F238E27FC236}">
                <a16:creationId xmlns:a16="http://schemas.microsoft.com/office/drawing/2014/main" id="{FFF4C91F-EDE1-459E-88E6-E9604181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B63"/>
                </a:solidFill>
              </a:defRPr>
            </a:pPr>
            <a:r>
              <a:rPr sz="2175" b="1">
                <a:solidFill>
                  <a:srgbClr val="176B63"/>
                </a:solidFill>
              </a:rPr>
              <a:t>Inspect the stored end state</a:t>
            </a:r>
          </a:p>
        </p:txBody>
      </p:sp>
      <p:sp>
        <p:nvSpPr>
          <p:cNvPr id="8" name="step-444-detail">
            <a:extLst xmlns:a="http://schemas.openxmlformats.org/drawingml/2006/main">
              <a:ext uri="{FF2B5EF4-FFF2-40B4-BE49-F238E27FC236}">
                <a16:creationId xmlns:a16="http://schemas.microsoft.com/office/drawing/2014/main" id="{14A26BF6-9431-4EE0-8D2D-A1A98499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1036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725">
                <a:solidFill>
                  <a:srgbClr val="526276"/>
                </a:solidFill>
              </a:defRPr>
            </a:pPr>
            <a:r>
              <a:rPr sz="1725">
                <a:solidFill>
                  <a:srgbClr val="526276"/>
                </a:solidFill>
              </a:rPr>
              <a:t>Confirm the replacement is published and current, the task is closed and the prior label remains unchanged.</a:t>
            </a:r>
          </a:p>
        </p:txBody>
      </p:sp>
      <p:sp>
        <p:nvSpPr>
          <p:cNvPr id="9" name="step-556-heading">
            <a:extLst xmlns:a="http://schemas.openxmlformats.org/drawingml/2006/main">
              <a:ext uri="{FF2B5EF4-FFF2-40B4-BE49-F238E27FC236}">
                <a16:creationId xmlns:a16="http://schemas.microsoft.com/office/drawing/2014/main" id="{8B21687E-E8F8-45C9-AA5B-D551EA02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76B6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B63"/>
                </a:solidFill>
              </a:defRPr>
            </a:pPr>
            <a:r>
              <a:rPr sz="2175" b="1">
                <a:solidFill>
                  <a:srgbClr val="176B63"/>
                </a:solidFill>
              </a:rPr>
              <a:t>Record independent acceptance</a:t>
            </a:r>
          </a:p>
        </p:txBody>
      </p:sp>
      <p:sp>
        <p:nvSpPr>
          <p:cNvPr id="10" name="step-556-detail">
            <a:extLst xmlns:a="http://schemas.openxmlformats.org/drawingml/2006/main">
              <a:ext uri="{FF2B5EF4-FFF2-40B4-BE49-F238E27FC236}">
                <a16:creationId xmlns:a16="http://schemas.microsoft.com/office/drawing/2014/main" id="{BB1AA11C-B80E-40DF-85F0-148EAE3F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67375"/>
            <a:ext cx="1036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526276"/>
                </a:solidFill>
              </a:defRPr>
            </a:defPPr>
          </a:lstStyle>
          <a:p xmlns:a="http://schemas.openxmlformats.org/drawingml/2006/main">
            <a:pPr>
              <a:defRPr sz="1725">
                <a:solidFill>
                  <a:srgbClr val="526276"/>
                </a:solidFill>
              </a:defRPr>
            </a:pPr>
            <a:r>
              <a:rPr sz="1725">
                <a:solidFill>
                  <a:srgbClr val="526276"/>
                </a:solidFill>
              </a:rPr>
              <a:t>A second reviewer should replay the scenario and attach findings or approval to the exact candidate commit.</a:t>
            </a:r>
          </a:p>
        </p:txBody>
      </p:sp>
    </p:spTree>
    <p:extLst>
      <p:ext uri="{BB962C8B-B14F-4D97-AF65-F5344CB8AC3E}">
        <p14:creationId xmlns:p14="http://schemas.microsoft.com/office/powerpoint/2010/main" val="14941124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2026-10-14T05:14:17.7920000Z</dcterms:created>
  <dcterms:modified xsi:type="dcterms:W3CDTF">2026-10-14T05:14:17.7920000Z</dcterms:modified>
</coreProperties>
</file>